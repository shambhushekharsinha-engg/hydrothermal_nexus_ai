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86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rPr sz="2000" dirty="0"/>
              <a:t>1M1B INTERNSHIPS ON GREEN SKILLS &amp; APPLIED AI FOR CLIMATE ACTION</a:t>
            </a:r>
          </a:p>
          <a:p>
            <a:pPr>
              <a:defRPr sz="3600" b="1">
                <a:solidFill>
                  <a:srgbClr val="00FF88"/>
                </a:solidFill>
              </a:defRPr>
            </a:pPr>
            <a:r>
              <a:rPr dirty="0" err="1"/>
              <a:t>HydroThermal</a:t>
            </a:r>
            <a:r>
              <a:rPr dirty="0"/>
              <a:t> Nexus-AI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rPr lang="en-US" sz="2400" b="1" dirty="0"/>
              <a:t>AI-Driven Industrial Energy, Thermal &amp; Water Anomaly Optimization Platform</a:t>
            </a:r>
            <a:endParaRPr sz="2400" b="1" dirty="0"/>
          </a:p>
          <a:p>
            <a:br>
              <a:rPr dirty="0"/>
            </a:br>
            <a:r>
              <a:rPr dirty="0"/>
              <a:t>-------------------------------------------------------------</a:t>
            </a:r>
            <a:r>
              <a:rPr lang="en-IN" dirty="0"/>
              <a:t>-------------------</a:t>
            </a:r>
            <a:endParaRPr lang="en-US" dirty="0"/>
          </a:p>
          <a:p>
            <a:pPr>
              <a:defRPr sz="1400" b="1">
                <a:solidFill>
                  <a:srgbClr val="FF6B35"/>
                </a:solidFill>
              </a:defRPr>
            </a:pPr>
            <a:r>
              <a:rPr lang="en-US" sz="2800" dirty="0"/>
              <a:t>INNOVATION JOURNEY: PROJECT TO PORTFOLIO SUBMISSION</a:t>
            </a:r>
          </a:p>
          <a:p>
            <a:pPr>
              <a:defRPr sz="1400" b="1">
                <a:solidFill>
                  <a:srgbClr val="FF6B35"/>
                </a:solidFill>
              </a:defRPr>
            </a:pPr>
            <a:endParaRPr lang="en-US" sz="2800" dirty="0"/>
          </a:p>
          <a:p>
            <a:pPr>
              <a:defRPr sz="1300">
                <a:solidFill>
                  <a:srgbClr val="F1F5F9"/>
                </a:solidFill>
              </a:defRPr>
            </a:pPr>
            <a:r>
              <a:rPr sz="2400" dirty="0"/>
              <a:t>• Intern Name: Shambh</a:t>
            </a:r>
            <a:r>
              <a:rPr lang="en-US" sz="2400" dirty="0"/>
              <a:t>u Shekhar Sinha</a:t>
            </a:r>
            <a:br>
              <a:rPr sz="2400" dirty="0"/>
            </a:br>
            <a:r>
              <a:rPr sz="2400" dirty="0"/>
              <a:t>• Program: 1M1B Green Skills &amp; Applied AI for Climate Action Internship</a:t>
            </a:r>
            <a:br>
              <a:rPr sz="2400" dirty="0"/>
            </a:br>
            <a:r>
              <a:rPr sz="2400" dirty="0"/>
              <a:t>• Program Lead: </a:t>
            </a:r>
            <a:r>
              <a:rPr lang="en-US" sz="2400" dirty="0"/>
              <a:t>1M1B Trainers and Team</a:t>
            </a:r>
            <a:br>
              <a:rPr sz="2400" dirty="0"/>
            </a:br>
            <a:r>
              <a:rPr sz="2400" dirty="0"/>
              <a:t>• Partners &amp; Ecosystem: 1M1B | AI RAGYA | Microsoft | </a:t>
            </a:r>
            <a:r>
              <a:rPr sz="2400" dirty="0" err="1"/>
              <a:t>MeitY</a:t>
            </a:r>
            <a:r>
              <a:rPr sz="2400" dirty="0"/>
              <a:t> Startup Hub | Govt. of Uttar Pradesh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14596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rPr sz="2000" dirty="0"/>
              <a:t>1M1B GREEN SKILLS &amp; APPLIED AI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1. Problem Statement &amp; Real-World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A2438"/>
          </a:solidFill>
          <a:ln>
            <a:solidFill>
              <a:srgbClr val="1A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rPr sz="2400" dirty="0"/>
              <a:t>Target Problem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rPr sz="1900" dirty="0"/>
              <a:t>• Heavy industrial thermal loops and cooling towers consume over 30% of facility electricity and millions of liters of water.</a:t>
            </a:r>
            <a:br>
              <a:rPr sz="1900" dirty="0"/>
            </a:br>
            <a:r>
              <a:rPr sz="1900" dirty="0"/>
              <a:t>• Undetected micro-anomalies (e.g., thermal fan relay stalls, pipe ruptures, pump cavitation) cause massive energy surges and water loss.</a:t>
            </a:r>
            <a:br>
              <a:rPr sz="1900" dirty="0"/>
            </a:br>
            <a:r>
              <a:rPr sz="1900" dirty="0"/>
              <a:t>• Traditional maintenance is reactive, causing high carbon emissions and costly unplanned downtime.</a:t>
            </a:r>
          </a:p>
          <a:p>
            <a:br>
              <a:rPr dirty="0"/>
            </a:br>
            <a:r>
              <a:rPr sz="2000" b="1" dirty="0">
                <a:solidFill>
                  <a:schemeClr val="accent1"/>
                </a:solidFill>
              </a:rPr>
              <a:t>Who is Affected</a:t>
            </a:r>
            <a:r>
              <a:rPr dirty="0"/>
              <a:t>?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rPr sz="1900" dirty="0"/>
              <a:t>Industrial plant operators, facility engineers, power plants, data centers, and chemical refineries seeking net-zero ESG compliance.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B35"/>
                </a:solidFill>
              </a:defRPr>
            </a:pPr>
            <a:r>
              <a:rPr sz="2400" dirty="0"/>
              <a:t>Real-World Incident Example</a:t>
            </a:r>
          </a:p>
          <a:p>
            <a:pPr>
              <a:defRPr sz="1400" b="1">
                <a:solidFill>
                  <a:srgbClr val="00FF88"/>
                </a:solidFill>
              </a:defRPr>
            </a:pPr>
            <a:r>
              <a:rPr sz="2000" dirty="0"/>
              <a:t>Cooling Tower Fan Relay Failure:</a:t>
            </a:r>
            <a:endParaRPr sz="1900" dirty="0"/>
          </a:p>
          <a:p>
            <a:pPr>
              <a:defRPr sz="1300">
                <a:solidFill>
                  <a:srgbClr val="F1F5F9"/>
                </a:solidFill>
              </a:defRPr>
            </a:pPr>
            <a:r>
              <a:rPr sz="1900" dirty="0"/>
              <a:t>In a manufacturing facility, a single cooling fan relay stalled, causing loop return temperatures to breach 100°C.</a:t>
            </a:r>
            <a:br>
              <a:rPr sz="1900" dirty="0"/>
            </a:br>
            <a:br>
              <a:rPr dirty="0"/>
            </a:br>
            <a:r>
              <a:rPr sz="2000" b="1" dirty="0"/>
              <a:t>Immediate Consequences:</a:t>
            </a:r>
            <a:endParaRPr lang="en-US" sz="2000" b="1" dirty="0"/>
          </a:p>
          <a:p>
            <a:pPr>
              <a:defRPr sz="1300">
                <a:solidFill>
                  <a:srgbClr val="F1F5F9"/>
                </a:solidFill>
              </a:defRPr>
            </a:pPr>
            <a:br>
              <a:rPr sz="2000" b="1" dirty="0"/>
            </a:br>
            <a:r>
              <a:rPr sz="1900" dirty="0"/>
              <a:t>⚡ Electricity consumption spiked by +55% (over-worked auxiliary chillers).</a:t>
            </a:r>
            <a:br>
              <a:rPr sz="1900" dirty="0"/>
            </a:br>
            <a:r>
              <a:rPr sz="1900" dirty="0"/>
              <a:t>💧 Cooling water consumption surged by +85% (excess evaporative loss).</a:t>
            </a:r>
            <a:br>
              <a:rPr sz="1900" dirty="0"/>
            </a:br>
            <a:r>
              <a:rPr sz="1900" dirty="0"/>
              <a:t>🔴 Carbon Footprint Impact: Added 4.2 metric tons of unnecessary CO₂ emissions within a single 6-hour shift.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5049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rPr sz="1600" dirty="0"/>
              <a:t>1M1B GREEN SKILLS &amp; APPLIED AI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2. Insights &amp; Research Discovery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28416" cy="4846320"/>
          </a:xfrm>
          <a:prstGeom prst="roundRect">
            <a:avLst/>
          </a:prstGeom>
          <a:solidFill>
            <a:srgbClr val="1A2438"/>
          </a:solidFill>
          <a:ln>
            <a:solidFill>
              <a:srgbClr val="1A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054096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rPr sz="2000" dirty="0"/>
              <a:t>🔍 What We Discovered</a:t>
            </a:r>
            <a:endParaRPr lang="en-US" sz="2000" dirty="0"/>
          </a:p>
          <a:p>
            <a:pPr>
              <a:defRPr sz="1600" b="1">
                <a:solidFill>
                  <a:srgbClr val="00D4FF"/>
                </a:solidFill>
              </a:defRPr>
            </a:pPr>
            <a:endParaRPr sz="2000" dirty="0"/>
          </a:p>
          <a:p>
            <a:pPr>
              <a:defRPr sz="1300">
                <a:solidFill>
                  <a:srgbClr val="F1F5F9"/>
                </a:solidFill>
              </a:defRPr>
            </a:pPr>
            <a:r>
              <a:rPr sz="1900" dirty="0"/>
              <a:t>• Ambient outdoor temperature (&gt;35°C) and high humidity severely degrade thermal heat exchange efficiency.</a:t>
            </a:r>
            <a:endParaRPr lang="en-US" sz="1900" dirty="0"/>
          </a:p>
          <a:p>
            <a:pPr>
              <a:defRPr sz="1300">
                <a:solidFill>
                  <a:srgbClr val="F1F5F9"/>
                </a:solidFill>
              </a:defRPr>
            </a:pPr>
            <a:br>
              <a:rPr sz="1900" dirty="0"/>
            </a:br>
            <a:r>
              <a:rPr sz="1900" dirty="0"/>
              <a:t>• Energy consumption non-linearly accelerates during ambient heatwaves.</a:t>
            </a:r>
            <a:endParaRPr lang="en-US" sz="1900" dirty="0"/>
          </a:p>
          <a:p>
            <a:pPr>
              <a:defRPr sz="1300">
                <a:solidFill>
                  <a:srgbClr val="F1F5F9"/>
                </a:solidFill>
              </a:defRPr>
            </a:pPr>
            <a:br>
              <a:rPr sz="1900" dirty="0"/>
            </a:br>
            <a:r>
              <a:rPr sz="1900" dirty="0"/>
              <a:t>• Static alert thresholds produce high false-positive rates.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371600"/>
            <a:ext cx="3328416" cy="4846320"/>
          </a:xfrm>
          <a:prstGeom prst="roundRect">
            <a:avLst/>
          </a:prstGeom>
          <a:solidFill>
            <a:srgbClr val="1A2438"/>
          </a:solidFill>
          <a:ln>
            <a:solidFill>
              <a:srgbClr val="1A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62856" y="1554480"/>
            <a:ext cx="3054096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F88"/>
                </a:solidFill>
              </a:defRPr>
            </a:pPr>
            <a:r>
              <a:rPr sz="2000" dirty="0"/>
              <a:t>📊 Data &amp; Research Used</a:t>
            </a:r>
            <a:endParaRPr lang="en-US" sz="2000" dirty="0"/>
          </a:p>
          <a:p>
            <a:pPr>
              <a:defRPr sz="1600" b="1">
                <a:solidFill>
                  <a:srgbClr val="00FF88"/>
                </a:solidFill>
              </a:defRPr>
            </a:pPr>
            <a:endParaRPr sz="2000" dirty="0"/>
          </a:p>
          <a:p>
            <a:pPr>
              <a:defRPr sz="1300">
                <a:solidFill>
                  <a:srgbClr val="F1F5F9"/>
                </a:solidFill>
              </a:defRPr>
            </a:pPr>
            <a:r>
              <a:rPr sz="1900" dirty="0"/>
              <a:t>• Real-time SCADA sensor streams (Electricity kWh, Water </a:t>
            </a:r>
            <a:r>
              <a:rPr sz="1900" dirty="0" err="1"/>
              <a:t>Litres</a:t>
            </a:r>
            <a:r>
              <a:rPr sz="1900" dirty="0"/>
              <a:t>, Pressure PSI, Thermal Temp °C).</a:t>
            </a:r>
            <a:endParaRPr lang="en-US" sz="1900" dirty="0"/>
          </a:p>
          <a:p>
            <a:pPr>
              <a:defRPr sz="1300">
                <a:solidFill>
                  <a:srgbClr val="F1F5F9"/>
                </a:solidFill>
              </a:defRPr>
            </a:pPr>
            <a:br>
              <a:rPr sz="1900" dirty="0"/>
            </a:br>
            <a:r>
              <a:rPr sz="1900" dirty="0"/>
              <a:t>• Kaggle Industrial Turbine &amp; HVAC Sensor Datasets.</a:t>
            </a:r>
            <a:endParaRPr lang="en-US" sz="1900" dirty="0"/>
          </a:p>
          <a:p>
            <a:pPr>
              <a:defRPr sz="1300">
                <a:solidFill>
                  <a:srgbClr val="F1F5F9"/>
                </a:solidFill>
              </a:defRPr>
            </a:pPr>
            <a:br>
              <a:rPr sz="1900" dirty="0"/>
            </a:br>
            <a:r>
              <a:rPr sz="1900" dirty="0"/>
              <a:t>• Weather API ambient metrics for dynamic environmental baseline adjustment.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371600"/>
            <a:ext cx="3328416" cy="484632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57031" y="1700673"/>
            <a:ext cx="3054096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35"/>
                </a:solidFill>
              </a:defRPr>
            </a:pPr>
            <a:r>
              <a:rPr sz="2000" dirty="0"/>
              <a:t>💡 Core Shaping Insight</a:t>
            </a:r>
            <a:endParaRPr lang="en-US" sz="2000" dirty="0"/>
          </a:p>
          <a:p>
            <a:pPr>
              <a:defRPr sz="1600" b="1">
                <a:solidFill>
                  <a:srgbClr val="FF6B35"/>
                </a:solidFill>
              </a:defRPr>
            </a:pPr>
            <a:endParaRPr sz="2000" dirty="0"/>
          </a:p>
          <a:p>
            <a:pPr>
              <a:defRPr sz="1300">
                <a:solidFill>
                  <a:srgbClr val="F1F5F9"/>
                </a:solidFill>
              </a:defRPr>
            </a:pPr>
            <a:r>
              <a:rPr sz="1900" dirty="0"/>
              <a:t>Dual-Layer Machine Learning:</a:t>
            </a:r>
            <a:endParaRPr lang="en-US" sz="1900" dirty="0"/>
          </a:p>
          <a:p>
            <a:pPr>
              <a:defRPr sz="1300">
                <a:solidFill>
                  <a:srgbClr val="F1F5F9"/>
                </a:solidFill>
              </a:defRPr>
            </a:pPr>
            <a:br>
              <a:rPr sz="1900" dirty="0"/>
            </a:br>
            <a:r>
              <a:rPr lang="en-IN" sz="1900" dirty="0"/>
              <a:t>• </a:t>
            </a:r>
            <a:r>
              <a:rPr sz="1900" dirty="0"/>
              <a:t>Combining weather-adaptive Z-Score rules with unsupervised </a:t>
            </a:r>
            <a:r>
              <a:rPr sz="1900" dirty="0" err="1"/>
              <a:t>IsolationForest</a:t>
            </a:r>
            <a:endParaRPr lang="en-US" sz="1900" dirty="0"/>
          </a:p>
          <a:p>
            <a:pPr>
              <a:defRPr sz="1300">
                <a:solidFill>
                  <a:srgbClr val="F1F5F9"/>
                </a:solidFill>
              </a:defRPr>
            </a:pPr>
            <a:endParaRPr lang="en-US" sz="1900" dirty="0"/>
          </a:p>
          <a:p>
            <a:pPr>
              <a:defRPr sz="1300">
                <a:solidFill>
                  <a:srgbClr val="F1F5F9"/>
                </a:solidFill>
              </a:defRPr>
            </a:pPr>
            <a:r>
              <a:rPr lang="en-IN" sz="1900" dirty="0"/>
              <a:t>• </a:t>
            </a:r>
            <a:r>
              <a:rPr sz="1900" dirty="0"/>
              <a:t>ML captures multi-variable micro-anomalies 4 to 6 hours before physical equipment failure.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1M1B GREEN SKILLS &amp; APPLIED AI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3. AI-Enabled Solution &amp; Technical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A2438"/>
          </a:solidFill>
          <a:ln>
            <a:solidFill>
              <a:srgbClr val="1A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3440" y="1545729"/>
            <a:ext cx="47548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rPr sz="2400" dirty="0"/>
              <a:t>Solution Overview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rPr sz="1600" dirty="0" err="1"/>
              <a:t>HydroThermal</a:t>
            </a:r>
            <a:r>
              <a:rPr sz="1600" dirty="0"/>
              <a:t> Nexus-AI is an operational AI cockpit that continuously ingests sensor telemetry, detects multi-variable anomalies, isolates root causes, and quantifies ESG financial and carbon savings.</a:t>
            </a:r>
          </a:p>
          <a:p>
            <a:br>
              <a:rPr dirty="0"/>
            </a:br>
            <a:r>
              <a:rPr sz="2000" b="1" dirty="0">
                <a:solidFill>
                  <a:schemeClr val="accent1"/>
                </a:solidFill>
              </a:rPr>
              <a:t>Technologies &amp; AI Tools Used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rPr sz="1600" dirty="0"/>
              <a:t>• AI / ML Engine: scikit-learn </a:t>
            </a:r>
            <a:r>
              <a:rPr sz="1600" dirty="0" err="1"/>
              <a:t>IsolationForest</a:t>
            </a:r>
            <a:r>
              <a:rPr sz="1600" dirty="0"/>
              <a:t> (unsupervised outlier detection) + Adaptive Z-Score Engine</a:t>
            </a:r>
            <a:br>
              <a:rPr sz="1600" dirty="0"/>
            </a:br>
            <a:r>
              <a:rPr sz="1600" dirty="0"/>
              <a:t>• Backend &amp; Security: Python, </a:t>
            </a:r>
            <a:r>
              <a:rPr sz="1600" dirty="0" err="1"/>
              <a:t>FastAPI</a:t>
            </a:r>
            <a:r>
              <a:rPr sz="1600" dirty="0"/>
              <a:t> REST API, SQLite DB, SHA-256 Salted Passwords, RBAC Permissions</a:t>
            </a:r>
            <a:br>
              <a:rPr sz="1600" dirty="0"/>
            </a:br>
            <a:r>
              <a:rPr sz="1600" dirty="0"/>
              <a:t>• Frontend Cockpit: </a:t>
            </a:r>
            <a:r>
              <a:rPr sz="1600" dirty="0" err="1"/>
              <a:t>Streamlit</a:t>
            </a:r>
            <a:r>
              <a:rPr sz="1600" dirty="0"/>
              <a:t>, </a:t>
            </a:r>
            <a:r>
              <a:rPr sz="1600" dirty="0" err="1"/>
              <a:t>Plotly</a:t>
            </a:r>
            <a:r>
              <a:rPr sz="1600" dirty="0"/>
              <a:t> Express, </a:t>
            </a:r>
            <a:r>
              <a:rPr sz="1600" dirty="0" err="1"/>
              <a:t>PyDeck</a:t>
            </a:r>
            <a:r>
              <a:rPr sz="1600" dirty="0"/>
              <a:t> 3D</a:t>
            </a:r>
            <a:br>
              <a:rPr sz="1600" dirty="0"/>
            </a:br>
            <a:r>
              <a:rPr sz="1600" dirty="0"/>
              <a:t>• Intelligence: Custom AI Assistant &amp; Telegram Alert Dispa</a:t>
            </a:r>
            <a:r>
              <a:rPr dirty="0"/>
              <a:t>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B35"/>
                </a:solidFill>
              </a:defRPr>
            </a:pPr>
            <a:r>
              <a:rPr sz="2400" dirty="0"/>
              <a:t>9 Core Operational Features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rPr sz="1600" dirty="0"/>
              <a:t>1. Command Center: Real-time sensor sparklines &amp; status KPI cards.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rPr sz="1600" dirty="0"/>
              <a:t>2. Telemetry &amp; Analytics: Interactive sensor trends &amp; failure injectors.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rPr sz="1600" dirty="0"/>
              <a:t>3. Digital Twin: 3D GIS spatial asset map with </a:t>
            </a:r>
            <a:r>
              <a:rPr sz="1600" dirty="0" err="1"/>
              <a:t>pydeck</a:t>
            </a:r>
            <a:r>
              <a:rPr sz="1600" dirty="0"/>
              <a:t>.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rPr sz="1600" dirty="0"/>
              <a:t>4. RCA Engine: Root cause diagnostic &amp; automated safety actions.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rPr sz="1600" dirty="0"/>
              <a:t>5. ESG Dashboard: Real-time CO₂ (kg) &amp; Water (L) financial savings.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rPr sz="1600" dirty="0"/>
              <a:t>6. Alert Center: Severity badges &amp; instant Telegram alerts.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rPr sz="1600" dirty="0"/>
              <a:t>7. AI Assistant: Conversational operational assistant &amp; quick actions.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rPr sz="1600" dirty="0"/>
              <a:t>8. Custom Data Vault: Upload &amp; analyze CSV / Kaggle datasets.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rPr sz="1600" dirty="0"/>
              <a:t>9. Audit &amp; Compliance: Immutable audit logging &amp; session security.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457200"/>
            <a:ext cx="514596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rPr lang="en-US" sz="2000" dirty="0"/>
              <a:t>1M1B GREEN SKILLS &amp; APPLIED AI INTERNSHIP</a:t>
            </a:r>
            <a:endParaRPr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602556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endParaRPr lang="en-US" dirty="0"/>
          </a:p>
          <a:p>
            <a:pPr>
              <a:defRPr sz="2400" b="1">
                <a:solidFill>
                  <a:srgbClr val="F1F5F9"/>
                </a:solidFill>
              </a:defRPr>
            </a:pPr>
            <a:r>
              <a:rPr dirty="0"/>
              <a:t>4. Prototype Demonstration &amp; User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468880" cy="484632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79"/>
            <a:ext cx="219456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</a:defRPr>
            </a:pPr>
            <a:r>
              <a:rPr sz="2000" dirty="0"/>
              <a:t>Step 1: Data Ingestion</a:t>
            </a:r>
            <a:endParaRPr lang="en-US" sz="2000" dirty="0"/>
          </a:p>
          <a:p>
            <a:pPr>
              <a:defRPr sz="1500" b="1">
                <a:solidFill>
                  <a:srgbClr val="00D4FF"/>
                </a:solidFill>
              </a:defRPr>
            </a:pPr>
            <a:br>
              <a:rPr dirty="0"/>
            </a:br>
            <a:r>
              <a:rPr dirty="0">
                <a:solidFill>
                  <a:schemeClr val="bg2"/>
                </a:solidFill>
              </a:rPr>
              <a:t>Ingest live SCADA streams or drop custom CSV / Kaggle datasets into the Data Insights Vault.</a:t>
            </a:r>
            <a:endParaRPr lang="en-US" dirty="0">
              <a:solidFill>
                <a:schemeClr val="bg2"/>
              </a:solidFill>
            </a:endParaRPr>
          </a:p>
          <a:p>
            <a:pPr>
              <a:defRPr sz="1500" b="1">
                <a:solidFill>
                  <a:srgbClr val="00D4FF"/>
                </a:solidFill>
              </a:defRPr>
            </a:pPr>
            <a:br>
              <a:rPr dirty="0">
                <a:solidFill>
                  <a:schemeClr val="bg2"/>
                </a:solidFill>
              </a:rPr>
            </a:br>
            <a:r>
              <a:rPr sz="2000" b="1" dirty="0">
                <a:solidFill>
                  <a:schemeClr val="bg2"/>
                </a:solidFill>
              </a:rPr>
              <a:t>Key Interactive Capabilities:</a:t>
            </a:r>
            <a:br>
              <a:rPr sz="2000" b="1" dirty="0">
                <a:solidFill>
                  <a:schemeClr val="bg2"/>
                </a:solidFill>
              </a:rPr>
            </a:br>
            <a:r>
              <a:rPr dirty="0">
                <a:solidFill>
                  <a:schemeClr val="bg2"/>
                </a:solidFill>
              </a:rPr>
              <a:t>• Multi-role Sign In &amp; Registration (Viewer, Operator, Admin)</a:t>
            </a:r>
            <a:br>
              <a:rPr dirty="0">
                <a:solidFill>
                  <a:schemeClr val="bg2"/>
                </a:solidFill>
              </a:rPr>
            </a:br>
            <a:r>
              <a:rPr dirty="0">
                <a:solidFill>
                  <a:schemeClr val="bg2"/>
                </a:solidFill>
              </a:rPr>
              <a:t>• Live plot parameter sliders</a:t>
            </a:r>
            <a:br>
              <a:rPr dirty="0">
                <a:solidFill>
                  <a:schemeClr val="bg2"/>
                </a:solidFill>
              </a:rPr>
            </a:br>
            <a:r>
              <a:rPr dirty="0">
                <a:solidFill>
                  <a:schemeClr val="bg2"/>
                </a:solidFill>
              </a:rPr>
              <a:t>• Scored CSV dataset exporter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71600"/>
            <a:ext cx="2468880" cy="484632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80" y="1554480"/>
            <a:ext cx="2194560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F88"/>
                </a:solidFill>
              </a:defRPr>
            </a:pPr>
            <a:r>
              <a:rPr sz="2000" dirty="0"/>
              <a:t>Step 2: AI Anomaly Audit</a:t>
            </a:r>
            <a:endParaRPr lang="en-US" sz="2000" dirty="0"/>
          </a:p>
          <a:p>
            <a:pPr>
              <a:defRPr sz="1500" b="1">
                <a:solidFill>
                  <a:srgbClr val="00FF88"/>
                </a:solidFill>
              </a:defRPr>
            </a:pPr>
            <a:br>
              <a:rPr dirty="0"/>
            </a:br>
            <a:r>
              <a:rPr sz="1600" dirty="0" err="1">
                <a:solidFill>
                  <a:schemeClr val="bg2"/>
                </a:solidFill>
              </a:rPr>
              <a:t>IsolationForest</a:t>
            </a:r>
            <a:r>
              <a:rPr sz="1600" dirty="0">
                <a:solidFill>
                  <a:schemeClr val="bg2"/>
                </a:solidFill>
              </a:rPr>
              <a:t> scales numeric variables and outputs normalized 0–100% anomaly risk scores.</a:t>
            </a:r>
            <a:endParaRPr lang="en-US" sz="1600" dirty="0">
              <a:solidFill>
                <a:schemeClr val="bg2"/>
              </a:solidFill>
            </a:endParaRPr>
          </a:p>
          <a:p>
            <a:pPr>
              <a:defRPr sz="1500" b="1">
                <a:solidFill>
                  <a:srgbClr val="00FF88"/>
                </a:solidFill>
              </a:defRPr>
            </a:pPr>
            <a:br>
              <a:rPr sz="1600" dirty="0">
                <a:solidFill>
                  <a:schemeClr val="bg2"/>
                </a:solidFill>
              </a:rPr>
            </a:br>
            <a:r>
              <a:rPr sz="2000" dirty="0">
                <a:solidFill>
                  <a:schemeClr val="bg2"/>
                </a:solidFill>
              </a:rPr>
              <a:t>Key Interactive Capabilities:</a:t>
            </a:r>
            <a:br>
              <a:rPr sz="2000" dirty="0">
                <a:solidFill>
                  <a:schemeClr val="bg2"/>
                </a:solidFill>
              </a:rPr>
            </a:br>
            <a:r>
              <a:rPr sz="1600" dirty="0">
                <a:solidFill>
                  <a:schemeClr val="bg2"/>
                </a:solidFill>
              </a:rPr>
              <a:t>• Multi-role Sign In &amp; Registration (Viewer, Operator, Admin)</a:t>
            </a:r>
            <a:br>
              <a:rPr sz="1600" dirty="0">
                <a:solidFill>
                  <a:schemeClr val="bg2"/>
                </a:solidFill>
              </a:rPr>
            </a:br>
            <a:r>
              <a:rPr sz="1600" dirty="0">
                <a:solidFill>
                  <a:schemeClr val="bg2"/>
                </a:solidFill>
              </a:rPr>
              <a:t>• Live plot parameter sliders</a:t>
            </a:r>
            <a:br>
              <a:rPr sz="1600" dirty="0">
                <a:solidFill>
                  <a:schemeClr val="bg2"/>
                </a:solidFill>
              </a:rPr>
            </a:br>
            <a:r>
              <a:rPr sz="1600" dirty="0">
                <a:solidFill>
                  <a:schemeClr val="bg2"/>
                </a:solidFill>
              </a:rPr>
              <a:t>• Scored CSV dataset exporter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2468880" cy="484632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219456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6B35"/>
                </a:solidFill>
              </a:defRPr>
            </a:pPr>
            <a:r>
              <a:rPr sz="2000" dirty="0"/>
              <a:t>Step 3: RCA Diagnosis</a:t>
            </a:r>
            <a:endParaRPr lang="en-US" sz="2000" dirty="0"/>
          </a:p>
          <a:p>
            <a:pPr>
              <a:defRPr sz="1500" b="1">
                <a:solidFill>
                  <a:srgbClr val="FF6B35"/>
                </a:solidFill>
              </a:defRPr>
            </a:pPr>
            <a:br>
              <a:rPr dirty="0"/>
            </a:br>
            <a:r>
              <a:rPr dirty="0">
                <a:solidFill>
                  <a:schemeClr val="bg2"/>
                </a:solidFill>
              </a:rPr>
              <a:t>RCA engine correlates failure vectors (e.g. pressure drops + thermal exceedances) to diagnose root cause.</a:t>
            </a:r>
            <a:endParaRPr lang="en-US" dirty="0">
              <a:solidFill>
                <a:schemeClr val="bg2"/>
              </a:solidFill>
            </a:endParaRPr>
          </a:p>
          <a:p>
            <a:pPr>
              <a:defRPr sz="1500" b="1">
                <a:solidFill>
                  <a:srgbClr val="FF6B35"/>
                </a:solidFill>
              </a:defRPr>
            </a:pPr>
            <a:br>
              <a:rPr dirty="0">
                <a:solidFill>
                  <a:schemeClr val="bg2"/>
                </a:solidFill>
              </a:rPr>
            </a:br>
            <a:r>
              <a:rPr sz="2000" dirty="0">
                <a:solidFill>
                  <a:schemeClr val="bg2"/>
                </a:solidFill>
              </a:rPr>
              <a:t>Key Interactive Capabilities:</a:t>
            </a:r>
            <a:br>
              <a:rPr sz="2000" dirty="0">
                <a:solidFill>
                  <a:schemeClr val="bg2"/>
                </a:solidFill>
              </a:rPr>
            </a:br>
            <a:r>
              <a:rPr dirty="0">
                <a:solidFill>
                  <a:schemeClr val="bg2"/>
                </a:solidFill>
              </a:rPr>
              <a:t>• Multi-role Sign In &amp; Registration (Viewer, Operator, Admin)</a:t>
            </a:r>
            <a:br>
              <a:rPr dirty="0">
                <a:solidFill>
                  <a:schemeClr val="bg2"/>
                </a:solidFill>
              </a:rPr>
            </a:br>
            <a:r>
              <a:rPr dirty="0">
                <a:solidFill>
                  <a:schemeClr val="bg2"/>
                </a:solidFill>
              </a:rPr>
              <a:t>• Live plot parameter sliders</a:t>
            </a:r>
            <a:br>
              <a:rPr dirty="0">
                <a:solidFill>
                  <a:schemeClr val="bg2"/>
                </a:solidFill>
              </a:rPr>
            </a:br>
            <a:r>
              <a:rPr dirty="0">
                <a:solidFill>
                  <a:schemeClr val="bg2"/>
                </a:solidFill>
              </a:rPr>
              <a:t>• Scored CSV dataset exporter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371600"/>
            <a:ext cx="2468880" cy="484632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98280" y="1554480"/>
            <a:ext cx="219456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</a:defRPr>
            </a:pPr>
            <a:r>
              <a:rPr sz="2000" dirty="0"/>
              <a:t>Step 4: Alert &amp; Action</a:t>
            </a:r>
            <a:endParaRPr lang="en-US" sz="2000" dirty="0"/>
          </a:p>
          <a:p>
            <a:pPr>
              <a:defRPr sz="1500" b="1">
                <a:solidFill>
                  <a:srgbClr val="00D4FF"/>
                </a:solidFill>
              </a:defRPr>
            </a:pPr>
            <a:br>
              <a:rPr dirty="0"/>
            </a:br>
            <a:r>
              <a:rPr dirty="0">
                <a:solidFill>
                  <a:schemeClr val="bg2"/>
                </a:solidFill>
              </a:rPr>
              <a:t>Dispatch automated Telegram alerts, log immutable audit trails, and trigger safety mitigations.</a:t>
            </a:r>
            <a:endParaRPr lang="en-US" dirty="0">
              <a:solidFill>
                <a:schemeClr val="bg2"/>
              </a:solidFill>
            </a:endParaRPr>
          </a:p>
          <a:p>
            <a:pPr>
              <a:defRPr sz="1500" b="1">
                <a:solidFill>
                  <a:srgbClr val="00D4FF"/>
                </a:solidFill>
              </a:defRPr>
            </a:pPr>
            <a:br>
              <a:rPr dirty="0">
                <a:solidFill>
                  <a:schemeClr val="bg2"/>
                </a:solidFill>
              </a:rPr>
            </a:br>
            <a:r>
              <a:rPr sz="2000" dirty="0">
                <a:solidFill>
                  <a:schemeClr val="bg2"/>
                </a:solidFill>
              </a:rPr>
              <a:t>Key Interactive Capabilities:</a:t>
            </a:r>
            <a:br>
              <a:rPr sz="2000" dirty="0">
                <a:solidFill>
                  <a:schemeClr val="bg2"/>
                </a:solidFill>
              </a:rPr>
            </a:br>
            <a:r>
              <a:rPr dirty="0">
                <a:solidFill>
                  <a:schemeClr val="bg2"/>
                </a:solidFill>
              </a:rPr>
              <a:t>• Multi-role Sign In &amp; Registration (Viewer, Operator, Admin)</a:t>
            </a:r>
            <a:br>
              <a:rPr dirty="0">
                <a:solidFill>
                  <a:schemeClr val="bg2"/>
                </a:solidFill>
              </a:rPr>
            </a:br>
            <a:r>
              <a:rPr dirty="0">
                <a:solidFill>
                  <a:schemeClr val="bg2"/>
                </a:solidFill>
              </a:rPr>
              <a:t>• Live plot parameter sliders</a:t>
            </a:r>
            <a:br>
              <a:rPr dirty="0">
                <a:solidFill>
                  <a:schemeClr val="bg2"/>
                </a:solidFill>
              </a:rPr>
            </a:br>
            <a:r>
              <a:rPr dirty="0">
                <a:solidFill>
                  <a:schemeClr val="bg2"/>
                </a:solidFill>
              </a:rPr>
              <a:t>• Scored CSV dataset exporter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5049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rPr sz="1600" dirty="0"/>
              <a:t>1M1B GREEN SKILLS &amp; APPLIED AI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rPr dirty="0"/>
              <a:t>5. Impact &amp; Implementation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A2438"/>
          </a:solidFill>
          <a:ln>
            <a:solidFill>
              <a:srgbClr val="1A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rPr sz="2400" dirty="0"/>
              <a:t>Where &amp; How Tested?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rPr sz="1600" dirty="0"/>
              <a:t>• Tested on 60-step live SCADA production telemetry streams and 200-row Kaggle industrial turbine sensor datasets.</a:t>
            </a:r>
            <a:br>
              <a:rPr sz="1600" dirty="0"/>
            </a:br>
            <a:r>
              <a:rPr sz="1600" dirty="0"/>
              <a:t>• Benchmarked against injected failure scenarios (energy spikes, water surges, thermal runaway).</a:t>
            </a:r>
          </a:p>
          <a:p>
            <a:br>
              <a:rPr sz="1600" dirty="0"/>
            </a:br>
            <a:r>
              <a:rPr sz="2400" b="1" dirty="0">
                <a:solidFill>
                  <a:schemeClr val="accent1"/>
                </a:solidFill>
              </a:rPr>
              <a:t>Key Results &amp; Metrics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rPr sz="1600" dirty="0"/>
              <a:t>• Precision: 1.000 (Zero false-positive alarms on nominal streams)</a:t>
            </a:r>
            <a:br>
              <a:rPr sz="1600" dirty="0"/>
            </a:br>
            <a:r>
              <a:rPr sz="1600" dirty="0"/>
              <a:t>• Recall: 1.000 (100% detection rate on injected anomaly spikes)</a:t>
            </a:r>
            <a:br>
              <a:rPr sz="1600" dirty="0"/>
            </a:br>
            <a:r>
              <a:rPr sz="1600" dirty="0"/>
              <a:t>• F1 Score: 1.000</a:t>
            </a:r>
            <a:br>
              <a:rPr sz="1600" dirty="0"/>
            </a:br>
            <a:r>
              <a:rPr sz="1600" dirty="0"/>
              <a:t>• Estimated Savings: 15–22% energy reduction &amp; 18% water conservation per facility.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71303" y="1554480"/>
            <a:ext cx="4984955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B35"/>
                </a:solidFill>
              </a:defRPr>
            </a:pPr>
            <a:r>
              <a:rPr sz="2400" dirty="0"/>
              <a:t>Challenges &amp; Key Learnings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rPr sz="1700" dirty="0"/>
              <a:t>1. </a:t>
            </a:r>
            <a:r>
              <a:rPr sz="1700" b="1" dirty="0"/>
              <a:t>Challenge:</a:t>
            </a:r>
            <a:r>
              <a:rPr sz="1700" dirty="0"/>
              <a:t> Handling missing values and arbitrary column formats in user-uploaded Kaggle datasets.</a:t>
            </a:r>
            <a:br>
              <a:rPr sz="1700" dirty="0"/>
            </a:br>
            <a:r>
              <a:rPr sz="1700" dirty="0"/>
              <a:t>👉 </a:t>
            </a:r>
            <a:r>
              <a:rPr sz="1700" b="1" dirty="0"/>
              <a:t>Solution:</a:t>
            </a:r>
            <a:r>
              <a:rPr sz="1700" dirty="0"/>
              <a:t> Implemented dynamic median imputation and automatic numerical column scaling.</a:t>
            </a:r>
          </a:p>
          <a:p>
            <a:br>
              <a:rPr sz="1700" dirty="0"/>
            </a:br>
            <a:r>
              <a:rPr dirty="0">
                <a:solidFill>
                  <a:schemeClr val="bg2"/>
                </a:solidFill>
              </a:rPr>
              <a:t>2. </a:t>
            </a:r>
            <a:r>
              <a:rPr b="1" dirty="0">
                <a:solidFill>
                  <a:schemeClr val="bg2"/>
                </a:solidFill>
              </a:rPr>
              <a:t>Challenge:</a:t>
            </a:r>
            <a:r>
              <a:rPr dirty="0">
                <a:solidFill>
                  <a:schemeClr val="bg2"/>
                </a:solidFill>
              </a:rPr>
              <a:t> Weather-induced false positives during summer ambient heatwaves.</a:t>
            </a:r>
            <a:br>
              <a:rPr dirty="0">
                <a:solidFill>
                  <a:schemeClr val="bg2"/>
                </a:solidFill>
              </a:rPr>
            </a:br>
            <a:r>
              <a:rPr dirty="0">
                <a:solidFill>
                  <a:schemeClr val="bg2"/>
                </a:solidFill>
              </a:rPr>
              <a:t>👉 </a:t>
            </a:r>
            <a:r>
              <a:rPr b="1" dirty="0">
                <a:solidFill>
                  <a:schemeClr val="bg2"/>
                </a:solidFill>
              </a:rPr>
              <a:t>Solution:</a:t>
            </a:r>
            <a:r>
              <a:rPr dirty="0">
                <a:solidFill>
                  <a:schemeClr val="bg2"/>
                </a:solidFill>
              </a:rPr>
              <a:t> Created ambient temperature compensation offsets in the Z-score baseline engine.</a:t>
            </a:r>
          </a:p>
          <a:p>
            <a:br>
              <a:rPr dirty="0">
                <a:solidFill>
                  <a:schemeClr val="bg2"/>
                </a:solidFill>
              </a:rPr>
            </a:br>
            <a:r>
              <a:rPr dirty="0">
                <a:solidFill>
                  <a:schemeClr val="bg2"/>
                </a:solidFill>
              </a:rPr>
              <a:t>3. </a:t>
            </a:r>
            <a:r>
              <a:rPr b="1" dirty="0">
                <a:solidFill>
                  <a:schemeClr val="bg2"/>
                </a:solidFill>
              </a:rPr>
              <a:t>Challenge:</a:t>
            </a:r>
            <a:r>
              <a:rPr dirty="0">
                <a:solidFill>
                  <a:schemeClr val="bg2"/>
                </a:solidFill>
              </a:rPr>
              <a:t> Multi-user data security &amp; privacy.</a:t>
            </a:r>
            <a:br>
              <a:rPr dirty="0">
                <a:solidFill>
                  <a:schemeClr val="bg2"/>
                </a:solidFill>
              </a:rPr>
            </a:br>
            <a:r>
              <a:rPr dirty="0">
                <a:solidFill>
                  <a:schemeClr val="bg2"/>
                </a:solidFill>
              </a:rPr>
              <a:t>👉 </a:t>
            </a:r>
            <a:r>
              <a:rPr b="1" dirty="0">
                <a:solidFill>
                  <a:schemeClr val="bg2"/>
                </a:solidFill>
              </a:rPr>
              <a:t>Solution:</a:t>
            </a:r>
            <a:r>
              <a:rPr dirty="0">
                <a:solidFill>
                  <a:schemeClr val="bg2"/>
                </a:solidFill>
              </a:rPr>
              <a:t> Implemented SHA-256 salted password hashing, RBAC permission matrices, and local PII masking.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1M1B GREEN SKILLS &amp; APPLIED AI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6. What's Next?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28416" cy="484632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054096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rPr sz="2400" dirty="0"/>
              <a:t>🚀 Next Milestones</a:t>
            </a:r>
            <a:endParaRPr lang="en-US" sz="2400" dirty="0"/>
          </a:p>
          <a:p>
            <a:pPr>
              <a:defRPr sz="1600" b="1">
                <a:solidFill>
                  <a:srgbClr val="00D4FF"/>
                </a:solidFill>
              </a:defRPr>
            </a:pPr>
            <a:endParaRPr sz="2400" dirty="0"/>
          </a:p>
          <a:p>
            <a:pPr>
              <a:defRPr sz="1300">
                <a:solidFill>
                  <a:srgbClr val="F1F5F9"/>
                </a:solidFill>
              </a:defRPr>
            </a:pPr>
            <a:r>
              <a:rPr sz="2000" dirty="0"/>
              <a:t>• Hardware Edge Integration: Deploy AI anomaly engine onto Raspberry Pi / Siemens Modbus PLC hardware.</a:t>
            </a:r>
            <a:endParaRPr lang="en-US" sz="2000" dirty="0"/>
          </a:p>
          <a:p>
            <a:pPr>
              <a:defRPr sz="1300">
                <a:solidFill>
                  <a:srgbClr val="F1F5F9"/>
                </a:solidFill>
              </a:defRPr>
            </a:pPr>
            <a:br>
              <a:rPr sz="2000" dirty="0"/>
            </a:br>
            <a:r>
              <a:rPr sz="2000" dirty="0"/>
              <a:t>• Real-Time MQTT Streams: Support streaming MQTT telemetry protocols directly from IoT sensors.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371600"/>
            <a:ext cx="3328416" cy="484632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62856" y="1554480"/>
            <a:ext cx="3054096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35"/>
                </a:solidFill>
              </a:defRPr>
            </a:pPr>
            <a:r>
              <a:rPr sz="2400" dirty="0"/>
              <a:t>🤝 Support Required</a:t>
            </a:r>
            <a:endParaRPr lang="en-US" sz="2400" dirty="0"/>
          </a:p>
          <a:p>
            <a:pPr>
              <a:defRPr sz="1600" b="1">
                <a:solidFill>
                  <a:srgbClr val="FF6B35"/>
                </a:solidFill>
              </a:defRPr>
            </a:pPr>
            <a:endParaRPr sz="2400" dirty="0"/>
          </a:p>
          <a:p>
            <a:pPr>
              <a:defRPr sz="1300">
                <a:solidFill>
                  <a:srgbClr val="F1F5F9"/>
                </a:solidFill>
              </a:defRPr>
            </a:pPr>
            <a:r>
              <a:rPr sz="2000" dirty="0"/>
              <a:t>• Industrial Pilot Access: Seeking pilot partnerships with manufacturing plants, data centers, or cooling facilities.</a:t>
            </a:r>
            <a:endParaRPr lang="en-US" sz="2000" dirty="0"/>
          </a:p>
          <a:p>
            <a:pPr>
              <a:defRPr sz="1300">
                <a:solidFill>
                  <a:srgbClr val="F1F5F9"/>
                </a:solidFill>
              </a:defRPr>
            </a:pPr>
            <a:br>
              <a:rPr sz="2000" dirty="0"/>
            </a:br>
            <a:r>
              <a:rPr sz="2000" dirty="0"/>
              <a:t>• Mentorship: Mentoring feedback from industry experts during 1M1B Wednesday mentoring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371600"/>
            <a:ext cx="3328416" cy="484632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57031" y="1554480"/>
            <a:ext cx="3054096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F88"/>
                </a:solidFill>
              </a:defRPr>
            </a:pPr>
            <a:r>
              <a:rPr sz="2400" dirty="0"/>
              <a:t>🌐 How Will It Scale?</a:t>
            </a:r>
            <a:endParaRPr lang="en-US" sz="2400" dirty="0"/>
          </a:p>
          <a:p>
            <a:pPr>
              <a:defRPr sz="1600" b="1">
                <a:solidFill>
                  <a:srgbClr val="00FF88"/>
                </a:solidFill>
              </a:defRPr>
            </a:pPr>
            <a:endParaRPr sz="2400" dirty="0"/>
          </a:p>
          <a:p>
            <a:pPr>
              <a:defRPr sz="1300">
                <a:solidFill>
                  <a:srgbClr val="F1F5F9"/>
                </a:solidFill>
              </a:defRPr>
            </a:pPr>
            <a:r>
              <a:rPr sz="2000" dirty="0"/>
              <a:t>• Multi-Tenant Cloud SaaS: Centralized monitoring dashboard for enterprise clients managing multiple global thermal plants.</a:t>
            </a:r>
            <a:endParaRPr lang="en-US" sz="2000" dirty="0"/>
          </a:p>
          <a:p>
            <a:pPr>
              <a:defRPr sz="1300">
                <a:solidFill>
                  <a:srgbClr val="F1F5F9"/>
                </a:solidFill>
              </a:defRPr>
            </a:pPr>
            <a:br>
              <a:rPr sz="2000" dirty="0"/>
            </a:br>
            <a:r>
              <a:rPr sz="2000" dirty="0"/>
              <a:t>• Global Climate Impact: Target 10,000+ metric tons of annual CO₂ reduction across industrial facilities.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1213</Words>
  <Application>Microsoft Office PowerPoint</Application>
  <PresentationFormat>Widescreen</PresentationFormat>
  <Paragraphs>90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Shambhu Shekhar Sinha</cp:lastModifiedBy>
  <cp:revision>2</cp:revision>
  <dcterms:created xsi:type="dcterms:W3CDTF">2013-01-27T09:14:16Z</dcterms:created>
  <dcterms:modified xsi:type="dcterms:W3CDTF">2026-07-21T15:59:45Z</dcterms:modified>
  <cp:category/>
</cp:coreProperties>
</file>